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38" autoAdjust="0"/>
    <p:restoredTop sz="94660"/>
  </p:normalViewPr>
  <p:slideViewPr>
    <p:cSldViewPr snapToGrid="0">
      <p:cViewPr varScale="1">
        <p:scale>
          <a:sx n="63" d="100"/>
          <a:sy n="63" d="100"/>
        </p:scale>
        <p:origin x="45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E5BBD-D1D7-43AD-9205-3E755ACB3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E1FDAD-4A33-40B3-8DCF-7E0AC77A0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89AC3E-EBD9-4F02-AB8C-F762CC11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44572-161C-4441-92BE-E204C36C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07D61-2CEC-4069-8CD1-9495E0E4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6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12D31-16DB-416D-9FAD-2F475FB0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068F5-1552-42AB-BE66-08716FE98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DA59BB-1C8E-42D1-BDBA-A7EB7015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9A046-50D2-4A13-A8AA-21B71ADF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63257-BC42-4AB6-B465-141EC640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21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130D4-20C2-4869-8D07-1FB140DD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2EE2F3-E430-4499-9D08-B68070F72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FAAA8D-D721-453E-9D6B-6DF40160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BA586-489E-4375-8363-58A762DE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207FB-1F04-4824-A2FF-EB5A4C158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11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17F1D0-F661-4223-BF5A-0053F247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02FE3C-5CFB-4FE7-A117-CFA6E5E4B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6E0FE5-71E8-43E7-899D-1F573C69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D3BB6C-1025-4473-B5B4-2543A6FC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B73682-BA12-4222-89C1-2E6ABB619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302C2E-C6B5-4F63-806D-B250D307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56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D2C0C-8255-4BB2-BC66-22BCB6E1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FD37B-ECA6-4F1F-BF09-FD7F18755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C928E9-3BDD-4B3D-B686-F1088AF43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2C8B8F-490F-459A-9165-164C857BA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CC47F8-5815-40EC-9E70-172374359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F40D5A-6EA4-418C-8103-909DB16C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4E67DC-49D0-4FDE-BFF1-8565B833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93D7B4-052D-4B65-9764-AC28F234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89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95798-2978-407A-A623-893E689D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95ED9B-531C-4779-98E4-956AA73E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7AA09C-EA41-42FC-BC62-23C9C550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D55F43-5CE8-47AD-9316-A4C7FFCD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21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A4F5BA-B935-4ABB-8CCD-6F8C9F53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256688-3BF0-4995-85B9-D05D69BA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08ADBF-8C59-40CB-AC38-9F954EED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E0B9B-9729-476A-96AA-6F614A59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F24A3E-1BDB-462D-8FB9-5DBAFA485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A1FD09-E1A3-4FCB-8DC0-4A2C655FD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D696E9-59C7-4880-B02A-D58F3920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E14E43-D9CD-4371-B533-AA8CAA68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8A146C-E333-489A-8340-D5F0FE3F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08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56FAD-AD56-4188-8AFB-A36FE33D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2AF95D-092A-49A2-81D1-CCB826E1A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EA7052-3246-4D56-888C-FB6E07BEA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A8605-63AA-43DD-BFFD-E3956782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26BFE1-1D24-4784-9A3B-58B9A3C2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9D193C-F11D-42EF-9A72-892A3C5E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64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5703F-04B8-4CEC-9930-AB54604F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BD2B7B-0243-40B9-91B5-D9301E93D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FFF53-8D50-4E02-BE23-D53ACD0F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8B109-AB66-4565-97BD-646F229A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7368C3-4F08-4533-A5D6-91B7D710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53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C84BAE-124F-4BB9-A30C-A672F683D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C3D963-72B6-4818-8951-C4FCD1925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3FD535-4845-4ECE-BA6D-D65B15C27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AA0F8C-BBBD-46EC-A06B-AB90E5252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CBF0C-21BB-48F8-BA80-47868EE9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14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834256-84EE-42D3-8AC5-402D223B7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A3114F-9A95-42CA-903F-66FDE0058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AD1EC-2820-4CA1-939E-AD3F690DE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AEA72-A2FC-40D4-857A-DE3CF64BE7F9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9B26B5-26EB-4F4B-BC1A-7982B13ED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3FDAD-5F79-4AA4-8131-DACE03CF6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74AFD-2689-4C1C-9573-968D497B7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39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B09DC5A-0979-44EA-9F8B-122E0DE0E1A8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28289F4-27AF-4B23-BA74-8A3F149FF6BE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Bayes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1144791-D8C3-4614-926D-4793A4B9846D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C1C5F180-53E6-43C3-9BA9-AC0EF1EC4E6C}"/>
              </a:ext>
            </a:extLst>
          </p:cNvPr>
          <p:cNvSpPr/>
          <p:nvPr/>
        </p:nvSpPr>
        <p:spPr>
          <a:xfrm>
            <a:off x="1468192" y="1705480"/>
            <a:ext cx="2607972" cy="862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条件独立性假设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FAA899-F73B-4E3B-B4DE-52A19425066B}"/>
              </a:ext>
            </a:extLst>
          </p:cNvPr>
          <p:cNvSpPr/>
          <p:nvPr/>
        </p:nvSpPr>
        <p:spPr>
          <a:xfrm>
            <a:off x="7680102" y="1705479"/>
            <a:ext cx="2607972" cy="862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位置独立性假设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305E3DA-46B1-4B5D-9FF2-A76003D4487D}"/>
              </a:ext>
            </a:extLst>
          </p:cNvPr>
          <p:cNvGrpSpPr/>
          <p:nvPr/>
        </p:nvGrpSpPr>
        <p:grpSpPr>
          <a:xfrm>
            <a:off x="534508" y="3429000"/>
            <a:ext cx="4618278" cy="1839529"/>
            <a:chOff x="534508" y="3429000"/>
            <a:chExt cx="4618278" cy="1839529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DAF57BD-3A90-4DEF-9EFD-0AC265FA1FB9}"/>
                </a:ext>
              </a:extLst>
            </p:cNvPr>
            <p:cNvSpPr txBox="1"/>
            <p:nvPr/>
          </p:nvSpPr>
          <p:spPr>
            <a:xfrm>
              <a:off x="1255690" y="3429000"/>
              <a:ext cx="3799267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任务：</a:t>
              </a:r>
              <a:endParaRPr lang="en-US" altLang="zh-CN" b="0" i="0" dirty="0">
                <a:solidFill>
                  <a:srgbClr val="333333"/>
                </a:solidFill>
                <a:effectLst/>
                <a:latin typeface="-apple-system"/>
              </a:endParaRPr>
            </a:p>
            <a:p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         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识别一个人的性别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Y=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男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/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女  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  </a:t>
              </a:r>
            </a:p>
            <a:p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特征：</a:t>
              </a:r>
              <a:endParaRPr lang="en-US" altLang="zh-CN" b="0" i="0" dirty="0">
                <a:solidFill>
                  <a:srgbClr val="333333"/>
                </a:solidFill>
                <a:effectLst/>
                <a:latin typeface="-apple-system"/>
              </a:endParaRPr>
            </a:p>
            <a:p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         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X=[x1=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身高  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x2=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体重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]</a:t>
              </a:r>
            </a:p>
            <a:p>
              <a:endParaRPr lang="en-US" altLang="zh-CN" b="0" i="0" dirty="0">
                <a:solidFill>
                  <a:srgbClr val="333333"/>
                </a:solidFill>
                <a:effectLst/>
                <a:latin typeface="-apple-system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D821382-3C20-4CE2-B7FC-DAFC37617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508" y="4906328"/>
              <a:ext cx="4618278" cy="362201"/>
            </a:xfrm>
            <a:prstGeom prst="rect">
              <a:avLst/>
            </a:prstGeom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0D15786-5028-48A9-B1DE-E8F22DB4A94D}"/>
              </a:ext>
            </a:extLst>
          </p:cNvPr>
          <p:cNvSpPr txBox="1"/>
          <p:nvPr/>
        </p:nvSpPr>
        <p:spPr>
          <a:xfrm>
            <a:off x="7360275" y="3218577"/>
            <a:ext cx="4211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任务：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          </a:t>
            </a:r>
            <a:r>
              <a:rPr lang="zh-CN" altLang="en-US" dirty="0">
                <a:solidFill>
                  <a:srgbClr val="333333"/>
                </a:solidFill>
                <a:latin typeface="-apple-system"/>
              </a:rPr>
              <a:t>情感分类：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|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喜欢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|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狗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A5F8A3-DBA0-439E-8F19-F8D236794257}"/>
              </a:ext>
            </a:extLst>
          </p:cNvPr>
          <p:cNvSpPr txBox="1"/>
          <p:nvPr/>
        </p:nvSpPr>
        <p:spPr>
          <a:xfrm>
            <a:off x="7321638" y="4025997"/>
            <a:ext cx="4288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特征：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         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向量“我”、向量“喜欢”、向量“狗”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6D3875-B45A-428F-BAB0-4F7A840EBCD9}"/>
              </a:ext>
            </a:extLst>
          </p:cNvPr>
          <p:cNvSpPr txBox="1"/>
          <p:nvPr/>
        </p:nvSpPr>
        <p:spPr>
          <a:xfrm>
            <a:off x="7360275" y="5087428"/>
            <a:ext cx="36490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在朴素贝叶斯看来，“我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|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喜欢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|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狗”与“狗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|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喜欢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|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我”是同一个分类任务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24E908-EB5D-4BA0-9DB7-27894AE908E3}"/>
              </a:ext>
            </a:extLst>
          </p:cNvPr>
          <p:cNvSpPr txBox="1"/>
          <p:nvPr/>
        </p:nvSpPr>
        <p:spPr>
          <a:xfrm>
            <a:off x="9298066" y="111199"/>
            <a:ext cx="2168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朴素贝叶斯</a:t>
            </a:r>
          </a:p>
        </p:txBody>
      </p:sp>
    </p:spTree>
    <p:extLst>
      <p:ext uri="{BB962C8B-B14F-4D97-AF65-F5344CB8AC3E}">
        <p14:creationId xmlns:p14="http://schemas.microsoft.com/office/powerpoint/2010/main" val="173201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B09DC5A-0979-44EA-9F8B-122E0DE0E1A8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28289F4-27AF-4B23-BA74-8A3F149FF6BE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Bayes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1144791-D8C3-4614-926D-4793A4B9846D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1C94A7-25FA-4503-8C81-13C62CC86924}"/>
              </a:ext>
            </a:extLst>
          </p:cNvPr>
          <p:cNvGrpSpPr/>
          <p:nvPr/>
        </p:nvGrpSpPr>
        <p:grpSpPr>
          <a:xfrm>
            <a:off x="598266" y="1095321"/>
            <a:ext cx="10809733" cy="5035610"/>
            <a:chOff x="506826" y="1110561"/>
            <a:chExt cx="10809733" cy="503561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5E69508-CDF4-402C-A02D-7B0F17D6D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2521" y="1110561"/>
              <a:ext cx="4022568" cy="129838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3E85052-CFB9-494B-8FAA-E82005E88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2521" y="2857070"/>
              <a:ext cx="4248150" cy="1371600"/>
            </a:xfrm>
            <a:prstGeom prst="rect">
              <a:avLst/>
            </a:prstGeom>
          </p:spPr>
        </p:pic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4689C0C6-6EE7-46BD-A657-9D8610C86585}"/>
                </a:ext>
              </a:extLst>
            </p:cNvPr>
            <p:cNvSpPr/>
            <p:nvPr/>
          </p:nvSpPr>
          <p:spPr>
            <a:xfrm>
              <a:off x="4419922" y="2353725"/>
              <a:ext cx="328411" cy="61265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A4C69DB-2A3F-4812-9188-961F6F95B52F}"/>
                </a:ext>
              </a:extLst>
            </p:cNvPr>
            <p:cNvSpPr txBox="1"/>
            <p:nvPr/>
          </p:nvSpPr>
          <p:spPr>
            <a:xfrm>
              <a:off x="506826" y="4407832"/>
              <a:ext cx="2105695" cy="923330"/>
            </a:xfrm>
            <a:prstGeom prst="rect">
              <a:avLst/>
            </a:prstGeom>
            <a:noFill/>
            <a:ln w="19050">
              <a:solidFill>
                <a:schemeClr val="accent5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已知样本特征的值为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X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的情况下，目标类别为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y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的概率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FE1C16E-F1C3-4706-A9AB-0006B216BF28}"/>
                </a:ext>
              </a:extLst>
            </p:cNvPr>
            <p:cNvSpPr txBox="1"/>
            <p:nvPr/>
          </p:nvSpPr>
          <p:spPr>
            <a:xfrm>
              <a:off x="1014749" y="5415282"/>
              <a:ext cx="12556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D100"/>
                  </a:solidFill>
                  <a:effectLst/>
                  <a:latin typeface="-apple-system"/>
                </a:rPr>
                <a:t>后验概率</a:t>
              </a:r>
              <a:endParaRPr lang="zh-CN" altLang="en-US" dirty="0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B320183D-7C4C-4F58-AA46-7371D7A126A6}"/>
                </a:ext>
              </a:extLst>
            </p:cNvPr>
            <p:cNvCxnSpPr>
              <a:endCxn id="21" idx="0"/>
            </p:cNvCxnSpPr>
            <p:nvPr/>
          </p:nvCxnSpPr>
          <p:spPr>
            <a:xfrm flipH="1">
              <a:off x="1559674" y="3886200"/>
              <a:ext cx="1244486" cy="52163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A4C1780-90E9-4BE4-81D6-0D0DFE23ED3C}"/>
                </a:ext>
              </a:extLst>
            </p:cNvPr>
            <p:cNvSpPr txBox="1"/>
            <p:nvPr/>
          </p:nvSpPr>
          <p:spPr>
            <a:xfrm>
              <a:off x="3454006" y="5331162"/>
              <a:ext cx="4881092" cy="36933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0000"/>
                  </a:solidFill>
                  <a:effectLst/>
                  <a:latin typeface="-apple-system"/>
                </a:rPr>
                <a:t>什么都不知道的情况下，目标类别为</a:t>
              </a:r>
              <a:r>
                <a:rPr lang="en-US" altLang="zh-CN" b="0" i="0" dirty="0">
                  <a:solidFill>
                    <a:srgbClr val="000000"/>
                  </a:solidFill>
                  <a:effectLst/>
                  <a:latin typeface="-apple-system"/>
                </a:rPr>
                <a:t>y</a:t>
              </a:r>
              <a:r>
                <a:rPr lang="zh-CN" altLang="en-US" b="0" i="0" dirty="0">
                  <a:solidFill>
                    <a:srgbClr val="000000"/>
                  </a:solidFill>
                  <a:effectLst/>
                  <a:latin typeface="-apple-system"/>
                </a:rPr>
                <a:t>的概率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1BDF69C1-B7D5-4333-9F38-F502C73113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4352" y="3606041"/>
              <a:ext cx="579549" cy="1611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4CCE49F-F02A-4EFA-AFEF-5DC08CFDFEFB}"/>
                </a:ext>
              </a:extLst>
            </p:cNvPr>
            <p:cNvSpPr txBox="1"/>
            <p:nvPr/>
          </p:nvSpPr>
          <p:spPr>
            <a:xfrm>
              <a:off x="5097205" y="5776839"/>
              <a:ext cx="12352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D100"/>
                  </a:solidFill>
                  <a:effectLst/>
                  <a:latin typeface="-apple-system"/>
                </a:rPr>
                <a:t>先验概率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F8FBEB1-3EB8-4C5A-A60F-6A2D61F07A97}"/>
                </a:ext>
              </a:extLst>
            </p:cNvPr>
            <p:cNvSpPr txBox="1"/>
            <p:nvPr/>
          </p:nvSpPr>
          <p:spPr>
            <a:xfrm>
              <a:off x="6332435" y="2528392"/>
              <a:ext cx="4984124" cy="36933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已知目标类别是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y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的情况下，特征的值为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X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的概率</a:t>
              </a:r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5EE3000-DB03-467A-8690-AA259FE92C5C}"/>
                </a:ext>
              </a:extLst>
            </p:cNvPr>
            <p:cNvSpPr txBox="1"/>
            <p:nvPr/>
          </p:nvSpPr>
          <p:spPr>
            <a:xfrm>
              <a:off x="8036203" y="2102082"/>
              <a:ext cx="14236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D100"/>
                  </a:solidFill>
                  <a:effectLst/>
                  <a:latin typeface="-apple-system"/>
                </a:rPr>
                <a:t>似然函数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D3B0AAF-E483-4F89-9F3A-CDB9FE4C0ABC}"/>
                </a:ext>
              </a:extLst>
            </p:cNvPr>
            <p:cNvSpPr txBox="1"/>
            <p:nvPr/>
          </p:nvSpPr>
          <p:spPr>
            <a:xfrm>
              <a:off x="6525088" y="4288704"/>
              <a:ext cx="4791471" cy="36933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什么都不知道的情况下，特征的值为</a:t>
              </a:r>
              <a:r>
                <a:rPr lang="en-US" altLang="zh-CN" b="0" i="0" dirty="0">
                  <a:solidFill>
                    <a:srgbClr val="333333"/>
                  </a:solidFill>
                  <a:effectLst/>
                  <a:latin typeface="-apple-system"/>
                </a:rPr>
                <a:t>X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的概率</a:t>
              </a:r>
              <a:endParaRPr lang="zh-CN" altLang="en-US" dirty="0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78A4EA29-A5C7-4FBC-9097-E817D996059F}"/>
                </a:ext>
              </a:extLst>
            </p:cNvPr>
            <p:cNvCxnSpPr/>
            <p:nvPr/>
          </p:nvCxnSpPr>
          <p:spPr>
            <a:xfrm flipV="1">
              <a:off x="6210085" y="2900263"/>
              <a:ext cx="901521" cy="1589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9F26BF1-3C5F-4BDC-9768-B3D707C9280F}"/>
                </a:ext>
              </a:extLst>
            </p:cNvPr>
            <p:cNvCxnSpPr/>
            <p:nvPr/>
          </p:nvCxnSpPr>
          <p:spPr>
            <a:xfrm>
              <a:off x="6210085" y="3886200"/>
              <a:ext cx="650586" cy="3424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4BA8D26-0BA6-48DC-BBEE-2548044E0506}"/>
                </a:ext>
              </a:extLst>
            </p:cNvPr>
            <p:cNvSpPr txBox="1"/>
            <p:nvPr/>
          </p:nvSpPr>
          <p:spPr>
            <a:xfrm>
              <a:off x="7913518" y="3791334"/>
              <a:ext cx="20874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B050"/>
                  </a:solidFill>
                  <a:effectLst/>
                  <a:latin typeface="-apple-system"/>
                </a:rPr>
                <a:t>特征</a:t>
              </a:r>
              <a:r>
                <a:rPr lang="en-US" altLang="zh-CN" b="0" i="0" dirty="0">
                  <a:solidFill>
                    <a:srgbClr val="00B050"/>
                  </a:solidFill>
                  <a:effectLst/>
                  <a:latin typeface="-apple-system"/>
                </a:rPr>
                <a:t>X</a:t>
              </a:r>
              <a:r>
                <a:rPr lang="zh-CN" altLang="en-US" b="0" i="0" dirty="0">
                  <a:solidFill>
                    <a:srgbClr val="00B050"/>
                  </a:solidFill>
                  <a:effectLst/>
                  <a:latin typeface="-apple-system"/>
                </a:rPr>
                <a:t>的先验概率</a:t>
              </a:r>
              <a:endParaRPr lang="zh-CN" alt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795B9495-663F-4D33-B444-7AA621B5D952}"/>
              </a:ext>
            </a:extLst>
          </p:cNvPr>
          <p:cNvSpPr txBox="1"/>
          <p:nvPr/>
        </p:nvSpPr>
        <p:spPr>
          <a:xfrm>
            <a:off x="9298066" y="111199"/>
            <a:ext cx="2168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朴素贝叶斯</a:t>
            </a:r>
          </a:p>
        </p:txBody>
      </p:sp>
    </p:spTree>
    <p:extLst>
      <p:ext uri="{BB962C8B-B14F-4D97-AF65-F5344CB8AC3E}">
        <p14:creationId xmlns:p14="http://schemas.microsoft.com/office/powerpoint/2010/main" val="241596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72F7A17A-0044-4365-A812-5A407EF29DFB}"/>
              </a:ext>
            </a:extLst>
          </p:cNvPr>
          <p:cNvSpPr/>
          <p:nvPr/>
        </p:nvSpPr>
        <p:spPr>
          <a:xfrm>
            <a:off x="5976311" y="5442147"/>
            <a:ext cx="5308539" cy="1345137"/>
          </a:xfrm>
          <a:prstGeom prst="rect">
            <a:avLst/>
          </a:prstGeom>
          <a:noFill/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09DC5A-0979-44EA-9F8B-122E0DE0E1A8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28289F4-27AF-4B23-BA74-8A3F149FF6BE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Bayes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1144791-D8C3-4614-926D-4793A4B9846D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0E85A8-C932-45CC-B9AC-A48038B62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29" y="816404"/>
            <a:ext cx="4334373" cy="325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6923C013-1144-4392-976B-77B08207F154}"/>
              </a:ext>
            </a:extLst>
          </p:cNvPr>
          <p:cNvGrpSpPr/>
          <p:nvPr/>
        </p:nvGrpSpPr>
        <p:grpSpPr>
          <a:xfrm>
            <a:off x="568559" y="4193168"/>
            <a:ext cx="4301543" cy="2134023"/>
            <a:chOff x="6774288" y="1079256"/>
            <a:chExt cx="4301543" cy="216525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80EF022-E85A-473D-A466-E8DA7666FB57}"/>
                </a:ext>
              </a:extLst>
            </p:cNvPr>
            <p:cNvSpPr/>
            <p:nvPr/>
          </p:nvSpPr>
          <p:spPr>
            <a:xfrm>
              <a:off x="6774288" y="1079256"/>
              <a:ext cx="4301543" cy="216525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例子</a:t>
              </a:r>
              <a:endParaRPr lang="en-US" altLang="zh-CN" dirty="0"/>
            </a:p>
            <a:p>
              <a:pPr algn="ctr"/>
              <a:endParaRPr lang="en-US" altLang="zh-CN" dirty="0"/>
            </a:p>
            <a:p>
              <a:pPr algn="ctr"/>
              <a:endParaRPr lang="en-US" altLang="zh-CN" dirty="0"/>
            </a:p>
            <a:p>
              <a:pPr algn="ctr"/>
              <a:endParaRPr lang="en-US" altLang="zh-CN" dirty="0"/>
            </a:p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AA3414D-A363-4ADA-8616-D39398580B8D}"/>
                </a:ext>
              </a:extLst>
            </p:cNvPr>
            <p:cNvSpPr/>
            <p:nvPr/>
          </p:nvSpPr>
          <p:spPr>
            <a:xfrm>
              <a:off x="7203708" y="1848961"/>
              <a:ext cx="3442701" cy="12197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抽样</a:t>
              </a:r>
              <a:r>
                <a:rPr lang="en-US" altLang="zh-CN" dirty="0">
                  <a:solidFill>
                    <a:schemeClr val="tx1"/>
                  </a:solidFill>
                </a:rPr>
                <a:t>100</a:t>
              </a:r>
              <a:r>
                <a:rPr lang="zh-CN" altLang="en-US" dirty="0">
                  <a:solidFill>
                    <a:schemeClr val="tx1"/>
                  </a:solidFill>
                </a:rPr>
                <a:t>个学生，给出身高统计，然后设计分类器，再给一名同学身高，预测性别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AF526E2-3CDA-41CA-AB3E-C048C84100F7}"/>
              </a:ext>
            </a:extLst>
          </p:cNvPr>
          <p:cNvGrpSpPr/>
          <p:nvPr/>
        </p:nvGrpSpPr>
        <p:grpSpPr>
          <a:xfrm>
            <a:off x="5155500" y="841188"/>
            <a:ext cx="6292856" cy="4418992"/>
            <a:chOff x="5183661" y="1303306"/>
            <a:chExt cx="6292856" cy="441899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6BA3C7D-07C0-40C5-B1CA-4F67D09AD572}"/>
                </a:ext>
              </a:extLst>
            </p:cNvPr>
            <p:cNvSpPr txBox="1"/>
            <p:nvPr/>
          </p:nvSpPr>
          <p:spPr>
            <a:xfrm>
              <a:off x="5183661" y="4768191"/>
              <a:ext cx="2640168" cy="584775"/>
            </a:xfrm>
            <a:prstGeom prst="rect">
              <a:avLst/>
            </a:prstGeom>
            <a:noFill/>
            <a:ln w="19050">
              <a:solidFill>
                <a:schemeClr val="accent5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1600" b="1" i="0" dirty="0">
                  <a:solidFill>
                    <a:srgbClr val="333333"/>
                  </a:solidFill>
                  <a:effectLst/>
                  <a:latin typeface="-apple-system"/>
                </a:rPr>
                <a:t>已知样本身高为</a:t>
              </a:r>
              <a:r>
                <a:rPr lang="en-US" altLang="zh-CN" sz="1600" b="1" i="0" dirty="0">
                  <a:solidFill>
                    <a:srgbClr val="333333"/>
                  </a:solidFill>
                  <a:effectLst/>
                  <a:latin typeface="-apple-system"/>
                </a:rPr>
                <a:t>X</a:t>
              </a:r>
              <a:r>
                <a:rPr lang="zh-CN" altLang="en-US" sz="1600" b="1" i="0" dirty="0">
                  <a:solidFill>
                    <a:srgbClr val="333333"/>
                  </a:solidFill>
                  <a:effectLst/>
                  <a:latin typeface="-apple-system"/>
                </a:rPr>
                <a:t>的情况下，类别为</a:t>
              </a:r>
              <a:r>
                <a:rPr lang="zh-CN" altLang="en-US" sz="1600" b="1" dirty="0">
                  <a:solidFill>
                    <a:srgbClr val="333333"/>
                  </a:solidFill>
                  <a:latin typeface="-apple-system"/>
                </a:rPr>
                <a:t>男</a:t>
              </a:r>
              <a:r>
                <a:rPr lang="en-US" altLang="zh-CN" sz="1600" b="1" dirty="0">
                  <a:solidFill>
                    <a:srgbClr val="333333"/>
                  </a:solidFill>
                  <a:latin typeface="-apple-system"/>
                </a:rPr>
                <a:t>/</a:t>
              </a:r>
              <a:r>
                <a:rPr lang="zh-CN" altLang="en-US" sz="1600" b="1" dirty="0">
                  <a:solidFill>
                    <a:srgbClr val="333333"/>
                  </a:solidFill>
                  <a:latin typeface="-apple-system"/>
                </a:rPr>
                <a:t>女</a:t>
              </a:r>
              <a:r>
                <a:rPr lang="zh-CN" altLang="en-US" sz="1600" b="1" i="0" dirty="0">
                  <a:solidFill>
                    <a:srgbClr val="333333"/>
                  </a:solidFill>
                  <a:effectLst/>
                  <a:latin typeface="-apple-system"/>
                </a:rPr>
                <a:t>的概率</a:t>
              </a:r>
              <a:endParaRPr lang="zh-CN" altLang="en-US" sz="1600" b="1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43DA542-E5C1-4E29-94AE-D3A7511DECFA}"/>
                </a:ext>
              </a:extLst>
            </p:cNvPr>
            <p:cNvSpPr txBox="1"/>
            <p:nvPr/>
          </p:nvSpPr>
          <p:spPr>
            <a:xfrm>
              <a:off x="5972967" y="5352966"/>
              <a:ext cx="1565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D100"/>
                  </a:solidFill>
                  <a:effectLst/>
                  <a:latin typeface="-apple-system"/>
                </a:rPr>
                <a:t>后验概率</a:t>
              </a:r>
              <a:endParaRPr lang="zh-CN" altLang="en-US" dirty="0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A21CAF11-2195-4635-AEEA-6CC202C6A596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6503745" y="3857735"/>
              <a:ext cx="645054" cy="91045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34B89E1-6A82-459B-8164-261CDB372C5E}"/>
                </a:ext>
              </a:extLst>
            </p:cNvPr>
            <p:cNvSpPr txBox="1"/>
            <p:nvPr/>
          </p:nvSpPr>
          <p:spPr>
            <a:xfrm>
              <a:off x="5842665" y="1702205"/>
              <a:ext cx="2235544" cy="584775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1600" b="1" i="0" dirty="0">
                  <a:solidFill>
                    <a:srgbClr val="000000"/>
                  </a:solidFill>
                  <a:effectLst/>
                  <a:latin typeface="-apple-system"/>
                </a:rPr>
                <a:t>什么都不知道的情况下，性别为男</a:t>
              </a:r>
              <a:r>
                <a:rPr lang="en-US" altLang="zh-CN" sz="1600" b="1" i="0" dirty="0">
                  <a:solidFill>
                    <a:srgbClr val="000000"/>
                  </a:solidFill>
                  <a:effectLst/>
                  <a:latin typeface="-apple-system"/>
                </a:rPr>
                <a:t>/</a:t>
              </a:r>
              <a:r>
                <a:rPr lang="zh-CN" altLang="en-US" sz="1600" b="1" i="0" dirty="0">
                  <a:solidFill>
                    <a:srgbClr val="000000"/>
                  </a:solidFill>
                  <a:effectLst/>
                  <a:latin typeface="-apple-system"/>
                </a:rPr>
                <a:t>女的概率</a:t>
              </a:r>
              <a:endParaRPr lang="zh-CN" altLang="en-US" sz="1600" b="1" dirty="0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58330914-6971-4D16-87C9-B6D155BAD1FD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H="1" flipV="1">
              <a:off x="6960437" y="2286980"/>
              <a:ext cx="1137676" cy="1035838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A445E15-770D-43A3-81E2-0AF37087BE64}"/>
                </a:ext>
              </a:extLst>
            </p:cNvPr>
            <p:cNvSpPr txBox="1"/>
            <p:nvPr/>
          </p:nvSpPr>
          <p:spPr>
            <a:xfrm>
              <a:off x="6325687" y="1303306"/>
              <a:ext cx="126949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D100"/>
                  </a:solidFill>
                  <a:effectLst/>
                  <a:latin typeface="-apple-system"/>
                </a:rPr>
                <a:t>先验概率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01F06FF-21E5-4E5F-95B9-609B3D9B9F0E}"/>
                </a:ext>
              </a:extLst>
            </p:cNvPr>
            <p:cNvSpPr txBox="1"/>
            <p:nvPr/>
          </p:nvSpPr>
          <p:spPr>
            <a:xfrm>
              <a:off x="9142467" y="1734350"/>
              <a:ext cx="2334049" cy="584775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1600" b="1" i="0" dirty="0">
                  <a:effectLst/>
                  <a:latin typeface="-apple-system"/>
                </a:rPr>
                <a:t>已知目标类别是</a:t>
              </a:r>
              <a:r>
                <a:rPr lang="zh-CN" altLang="en-US" sz="1600" b="1" dirty="0">
                  <a:latin typeface="-apple-system"/>
                </a:rPr>
                <a:t>男</a:t>
              </a:r>
              <a:r>
                <a:rPr lang="en-US" altLang="zh-CN" sz="1600" b="1" dirty="0">
                  <a:latin typeface="-apple-system"/>
                </a:rPr>
                <a:t>/</a:t>
              </a:r>
              <a:r>
                <a:rPr lang="zh-CN" altLang="en-US" sz="1600" b="1" dirty="0">
                  <a:latin typeface="-apple-system"/>
                </a:rPr>
                <a:t>女</a:t>
              </a:r>
              <a:r>
                <a:rPr lang="zh-CN" altLang="en-US" sz="1600" b="1" i="0" dirty="0">
                  <a:effectLst/>
                  <a:latin typeface="-apple-system"/>
                </a:rPr>
                <a:t>的情况下，身高为</a:t>
              </a:r>
              <a:r>
                <a:rPr lang="en-US" altLang="zh-CN" sz="1600" b="1" i="0" dirty="0">
                  <a:effectLst/>
                  <a:latin typeface="-apple-system"/>
                </a:rPr>
                <a:t>X</a:t>
              </a:r>
              <a:r>
                <a:rPr lang="zh-CN" altLang="en-US" sz="1600" b="1" i="0" dirty="0">
                  <a:effectLst/>
                  <a:latin typeface="-apple-system"/>
                </a:rPr>
                <a:t>的概率</a:t>
              </a:r>
              <a:endParaRPr lang="zh-CN" altLang="en-US" sz="1600" b="1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59AF5F8-B5E8-4E6B-A1E0-D9C5988D1C6D}"/>
                </a:ext>
              </a:extLst>
            </p:cNvPr>
            <p:cNvSpPr txBox="1"/>
            <p:nvPr/>
          </p:nvSpPr>
          <p:spPr>
            <a:xfrm>
              <a:off x="9764683" y="1303306"/>
              <a:ext cx="15483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D100"/>
                  </a:solidFill>
                  <a:effectLst/>
                  <a:latin typeface="-apple-system"/>
                </a:rPr>
                <a:t>似然函数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DE5BCB3-17F8-4EF8-89F2-E7C014373B76}"/>
                </a:ext>
              </a:extLst>
            </p:cNvPr>
            <p:cNvSpPr txBox="1"/>
            <p:nvPr/>
          </p:nvSpPr>
          <p:spPr>
            <a:xfrm>
              <a:off x="8998973" y="4570187"/>
              <a:ext cx="2314038" cy="584775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1600" b="1" i="0" dirty="0">
                  <a:solidFill>
                    <a:srgbClr val="333333"/>
                  </a:solidFill>
                  <a:effectLst/>
                  <a:latin typeface="-apple-system"/>
                </a:rPr>
                <a:t>什么都不知道的情况下，身高为</a:t>
              </a:r>
              <a:r>
                <a:rPr lang="en-US" altLang="zh-CN" sz="1600" b="1" i="0" dirty="0">
                  <a:solidFill>
                    <a:srgbClr val="333333"/>
                  </a:solidFill>
                  <a:effectLst/>
                  <a:latin typeface="-apple-system"/>
                </a:rPr>
                <a:t>X</a:t>
              </a:r>
              <a:r>
                <a:rPr lang="zh-CN" altLang="en-US" sz="1600" b="1" i="0" dirty="0">
                  <a:solidFill>
                    <a:srgbClr val="333333"/>
                  </a:solidFill>
                  <a:effectLst/>
                  <a:latin typeface="-apple-system"/>
                </a:rPr>
                <a:t>的概率，常量</a:t>
              </a:r>
              <a:endParaRPr lang="zh-CN" altLang="en-US" sz="1600" b="1" dirty="0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D765AF0-E7E9-4D73-8667-E14B9908244D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V="1">
              <a:off x="8923020" y="2319125"/>
              <a:ext cx="1386472" cy="990572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F464239C-8A3E-4D9A-A8DD-9FDBC91A5741}"/>
                </a:ext>
              </a:extLst>
            </p:cNvPr>
            <p:cNvCxnSpPr>
              <a:cxnSpLocks/>
            </p:cNvCxnSpPr>
            <p:nvPr/>
          </p:nvCxnSpPr>
          <p:spPr>
            <a:xfrm>
              <a:off x="8724111" y="4025146"/>
              <a:ext cx="838452" cy="54504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C23D28F-AB2A-49AF-9551-6A53D274DDF4}"/>
                </a:ext>
              </a:extLst>
            </p:cNvPr>
            <p:cNvSpPr txBox="1"/>
            <p:nvPr/>
          </p:nvSpPr>
          <p:spPr>
            <a:xfrm>
              <a:off x="9162479" y="5226384"/>
              <a:ext cx="2314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rgbClr val="00B050"/>
                  </a:solidFill>
                  <a:effectLst/>
                  <a:latin typeface="-apple-system"/>
                </a:rPr>
                <a:t>特征</a:t>
              </a:r>
              <a:r>
                <a:rPr lang="en-US" altLang="zh-CN" b="0" i="0" dirty="0">
                  <a:solidFill>
                    <a:srgbClr val="00B050"/>
                  </a:solidFill>
                  <a:effectLst/>
                  <a:latin typeface="-apple-system"/>
                </a:rPr>
                <a:t>X</a:t>
              </a:r>
              <a:r>
                <a:rPr lang="zh-CN" altLang="en-US" b="0" i="0" dirty="0">
                  <a:solidFill>
                    <a:srgbClr val="00B050"/>
                  </a:solidFill>
                  <a:effectLst/>
                  <a:latin typeface="-apple-system"/>
                </a:rPr>
                <a:t>的先验概率</a:t>
              </a:r>
              <a:endParaRPr lang="zh-CN" alt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CEFF04BB-408D-49F0-8B1C-499165701ED8}"/>
              </a:ext>
            </a:extLst>
          </p:cNvPr>
          <p:cNvSpPr/>
          <p:nvPr/>
        </p:nvSpPr>
        <p:spPr>
          <a:xfrm>
            <a:off x="9318028" y="2905994"/>
            <a:ext cx="1213159" cy="3034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实际计算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34775FAC-397E-4424-A1C8-1539D74B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826" y="5655817"/>
            <a:ext cx="1586987" cy="478008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AB65A3C5-5D6F-4360-BB3A-2CE2D6A634A8}"/>
              </a:ext>
            </a:extLst>
          </p:cNvPr>
          <p:cNvSpPr/>
          <p:nvPr/>
        </p:nvSpPr>
        <p:spPr>
          <a:xfrm>
            <a:off x="6096000" y="5693243"/>
            <a:ext cx="1213159" cy="3034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实际计算</a:t>
            </a:r>
            <a:r>
              <a:rPr lang="en-US" altLang="zh-CN" b="1" dirty="0">
                <a:solidFill>
                  <a:srgbClr val="FF0000"/>
                </a:solidFill>
              </a:rPr>
              <a:t>: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EA3F81-F7BE-4BC7-B7C9-224F9EDB77CF}"/>
              </a:ext>
            </a:extLst>
          </p:cNvPr>
          <p:cNvSpPr txBox="1"/>
          <p:nvPr/>
        </p:nvSpPr>
        <p:spPr>
          <a:xfrm>
            <a:off x="9179489" y="5521788"/>
            <a:ext cx="191183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各类别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与该样本特征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的联合概率</a:t>
            </a:r>
            <a:endParaRPr lang="zh-CN" altLang="en-US" dirty="0"/>
          </a:p>
        </p:txBody>
      </p:sp>
      <p:sp>
        <p:nvSpPr>
          <p:cNvPr id="48" name="星形: 五角 47">
            <a:extLst>
              <a:ext uri="{FF2B5EF4-FFF2-40B4-BE49-F238E27FC236}">
                <a16:creationId xmlns:a16="http://schemas.microsoft.com/office/drawing/2014/main" id="{ABA8A178-F6E9-4650-A8CC-4C15A2221FC4}"/>
              </a:ext>
            </a:extLst>
          </p:cNvPr>
          <p:cNvSpPr/>
          <p:nvPr/>
        </p:nvSpPr>
        <p:spPr>
          <a:xfrm>
            <a:off x="5142471" y="5763452"/>
            <a:ext cx="705724" cy="702178"/>
          </a:xfrm>
          <a:prstGeom prst="star5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3561F4A-8648-4B9C-B0BA-32F0371220BB}"/>
              </a:ext>
            </a:extLst>
          </p:cNvPr>
          <p:cNvSpPr txBox="1"/>
          <p:nvPr/>
        </p:nvSpPr>
        <p:spPr>
          <a:xfrm>
            <a:off x="9298066" y="111199"/>
            <a:ext cx="2168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朴素贝叶斯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AAB74492-85A9-48DA-975A-FA39F87F9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318" y="2803332"/>
            <a:ext cx="2555553" cy="780707"/>
          </a:xfrm>
          <a:prstGeom prst="rect">
            <a:avLst/>
          </a:prstGeom>
        </p:spPr>
      </p:pic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F3309D8-87FD-4F40-9562-1FD712A5254B}"/>
              </a:ext>
            </a:extLst>
          </p:cNvPr>
          <p:cNvSpPr/>
          <p:nvPr/>
        </p:nvSpPr>
        <p:spPr>
          <a:xfrm>
            <a:off x="7795668" y="2905994"/>
            <a:ext cx="1522360" cy="285091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AE8DA083-E4F1-4702-BBA6-1D4B0D918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140" y="6320091"/>
            <a:ext cx="2200959" cy="420482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28E36C86-BBA4-43C0-B979-4802BBAC5C97}"/>
              </a:ext>
            </a:extLst>
          </p:cNvPr>
          <p:cNvSpPr/>
          <p:nvPr/>
        </p:nvSpPr>
        <p:spPr>
          <a:xfrm>
            <a:off x="6120284" y="6332646"/>
            <a:ext cx="1213159" cy="3034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多维度时</a:t>
            </a:r>
            <a:r>
              <a:rPr lang="en-US" altLang="zh-CN" b="1" dirty="0">
                <a:solidFill>
                  <a:srgbClr val="FF0000"/>
                </a:solidFill>
              </a:rPr>
              <a:t>: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F797C2D7-CA06-450E-9871-C4E4566FA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425" y="6300068"/>
            <a:ext cx="940296" cy="394530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960C6443-1BC4-419D-8F0D-DB39445C9B4C}"/>
              </a:ext>
            </a:extLst>
          </p:cNvPr>
          <p:cNvSpPr/>
          <p:nvPr/>
        </p:nvSpPr>
        <p:spPr>
          <a:xfrm>
            <a:off x="8427721" y="6320091"/>
            <a:ext cx="360419" cy="3745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=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B09DC5A-0979-44EA-9F8B-122E0DE0E1A8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28289F4-27AF-4B23-BA74-8A3F149FF6BE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Bayes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1144791-D8C3-4614-926D-4793A4B9846D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876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B09DC5A-0979-44EA-9F8B-122E0DE0E1A8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28289F4-27AF-4B23-BA74-8A3F149FF6BE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Bayes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1144791-D8C3-4614-926D-4793A4B9846D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7397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275</Words>
  <Application>Microsoft Office PowerPoint</Application>
  <PresentationFormat>宽屏</PresentationFormat>
  <Paragraphs>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 杰</dc:creator>
  <cp:lastModifiedBy>周 杰</cp:lastModifiedBy>
  <cp:revision>63</cp:revision>
  <dcterms:created xsi:type="dcterms:W3CDTF">2021-07-14T03:07:03Z</dcterms:created>
  <dcterms:modified xsi:type="dcterms:W3CDTF">2021-07-19T09:32:49Z</dcterms:modified>
</cp:coreProperties>
</file>