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342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1E5BBD-D1D7-43AD-9205-3E755ACB3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9E1FDAD-4A33-40B3-8DCF-7E0AC77A0E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89AC3E-EBD9-4F02-AB8C-F762CC11D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AEA72-A2FC-40D4-857A-DE3CF64BE7F9}" type="datetimeFigureOut">
              <a:rPr lang="zh-CN" altLang="en-US" smtClean="0"/>
              <a:t>2021/7/14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044572-161C-4441-92BE-E204C36CC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107D61-2CEC-4069-8CD1-9495E0E4A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74AFD-2689-4C1C-9573-968D497B7F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5687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012D31-16DB-416D-9FAD-2F475FB05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7068F5-1552-42AB-BE66-08716FE98C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ADA59BB-1C8E-42D1-BDBA-A7EB70150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AEA72-A2FC-40D4-857A-DE3CF64BE7F9}" type="datetimeFigureOut">
              <a:rPr lang="zh-CN" altLang="en-US" smtClean="0"/>
              <a:t>2021/7/14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8C9A046-50D2-4A13-A8AA-21B71ADF3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E63257-BC42-4AB6-B465-141EC640F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74AFD-2689-4C1C-9573-968D497B7F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92160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C130D4-20C2-4869-8D07-1FB140DDE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62EE2F3-E430-4499-9D08-B68070F723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2FAAA8D-D721-453E-9D6B-6DF401605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AEA72-A2FC-40D4-857A-DE3CF64BE7F9}" type="datetimeFigureOut">
              <a:rPr lang="zh-CN" altLang="en-US" smtClean="0"/>
              <a:t>2021/7/14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5BA586-489E-4375-8363-58A762DEE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A207FB-1F04-4824-A2FF-EB5A4C158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74AFD-2689-4C1C-9573-968D497B7F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4112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17F1D0-F661-4223-BF5A-0053F247F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02FE3C-5CFB-4FE7-A117-CFA6E5E4B4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A6E0FE5-71E8-43E7-899D-1F573C69E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7D3BB6C-1025-4473-B5B4-2543A6FC6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AEA72-A2FC-40D4-857A-DE3CF64BE7F9}" type="datetimeFigureOut">
              <a:rPr lang="zh-CN" altLang="en-US" smtClean="0"/>
              <a:t>2021/7/14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AB73682-BA12-4222-89C1-2E6ABB619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302C2E-C6B5-4F63-806D-B250D307C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74AFD-2689-4C1C-9573-968D497B7F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3567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2D2C0C-8255-4BB2-BC66-22BCB6E1C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7EFD37B-ECA6-4F1F-BF09-FD7F18755F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0C928E9-3BDD-4B3D-B686-F1088AF43C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22C8B8F-490F-459A-9165-164C857BA8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BCC47F8-5815-40EC-9E70-172374359B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DF40D5A-6EA4-418C-8103-909DB16C2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AEA72-A2FC-40D4-857A-DE3CF64BE7F9}" type="datetimeFigureOut">
              <a:rPr lang="zh-CN" altLang="en-US" smtClean="0"/>
              <a:t>2021/7/14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F4E67DC-49D0-4FDE-BFF1-8565B833A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393D7B4-052D-4B65-9764-AC28F2346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74AFD-2689-4C1C-9573-968D497B7F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2893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B95798-2978-407A-A623-893E689D5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A95ED9B-531C-4779-98E4-956AA73E8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AEA72-A2FC-40D4-857A-DE3CF64BE7F9}" type="datetimeFigureOut">
              <a:rPr lang="zh-CN" altLang="en-US" smtClean="0"/>
              <a:t>2021/7/14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7AA09C-EA41-42FC-BC62-23C9C550E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DD55F43-5CE8-47AD-9316-A4C7FFCD7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74AFD-2689-4C1C-9573-968D497B7F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72146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A4F5BA-B935-4ABB-8CCD-6F8C9F53C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AEA72-A2FC-40D4-857A-DE3CF64BE7F9}" type="datetimeFigureOut">
              <a:rPr lang="zh-CN" altLang="en-US" smtClean="0"/>
              <a:t>2021/7/14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5256688-3BF0-4995-85B9-D05D69BA7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308ADBF-8C59-40CB-AC38-9F954EEDA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74AFD-2689-4C1C-9573-968D497B7F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7088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4E0B9B-9729-476A-96AA-6F614A598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FF24A3E-1BDB-462D-8FB9-5DBAFA485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7A1FD09-E1A3-4FCB-8DC0-4A2C655FD2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FD696E9-59C7-4880-B02A-D58F39200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AEA72-A2FC-40D4-857A-DE3CF64BE7F9}" type="datetimeFigureOut">
              <a:rPr lang="zh-CN" altLang="en-US" smtClean="0"/>
              <a:t>2021/7/14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1E14E43-D9CD-4371-B533-AA8CAA68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58A146C-E333-489A-8340-D5F0FE3F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74AFD-2689-4C1C-9573-968D497B7F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2089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756FAD-AD56-4188-8AFB-A36FE33D2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22AF95D-092A-49A2-81D1-CCB826E1A3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EA7052-3246-4D56-888C-FB6E07BEA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98A8605-63AA-43DD-BFFD-E3956782C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AEA72-A2FC-40D4-857A-DE3CF64BE7F9}" type="datetimeFigureOut">
              <a:rPr lang="zh-CN" altLang="en-US" smtClean="0"/>
              <a:t>2021/7/14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926BFE1-1D24-4784-9A3B-58B9A3C23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B9D193C-F11D-42EF-9A72-892A3C5E1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74AFD-2689-4C1C-9573-968D497B7F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6644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95703F-04B8-4CEC-9930-AB54604F0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0BD2B7B-0243-40B9-91B5-D9301E93D2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3FFF53-8D50-4E02-BE23-D53ACD0FF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AEA72-A2FC-40D4-857A-DE3CF64BE7F9}" type="datetimeFigureOut">
              <a:rPr lang="zh-CN" altLang="en-US" smtClean="0"/>
              <a:t>2021/7/14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CD8B109-AB66-4565-97BD-646F229AB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47368C3-4F08-4533-A5D6-91B7D710C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74AFD-2689-4C1C-9573-968D497B7F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1532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EC84BAE-124F-4BB9-A30C-A672F683D6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EC3D963-72B6-4818-8951-C4FCD19256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3FD535-4845-4ECE-BA6D-D65B15C27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AEA72-A2FC-40D4-857A-DE3CF64BE7F9}" type="datetimeFigureOut">
              <a:rPr lang="zh-CN" altLang="en-US" smtClean="0"/>
              <a:t>2021/7/14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1AA0F8C-BBBD-46EC-A06B-AB90E5252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CCBF0C-21BB-48F8-BA80-47868EE97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74AFD-2689-4C1C-9573-968D497B7F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814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0834256-84EE-42D3-8AC5-402D223B7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A3114F-9A95-42CA-903F-66FDE0058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E2AD1EC-2820-4CA1-939E-AD3F690DE5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BAEA72-A2FC-40D4-857A-DE3CF64BE7F9}" type="datetimeFigureOut">
              <a:rPr lang="zh-CN" altLang="en-US" smtClean="0"/>
              <a:t>2021/7/14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9B26B5-26EB-4F4B-BC1A-7982B13ED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33FDAD-5F79-4AA4-8131-DACE03CF6F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274AFD-2689-4C1C-9573-968D497B7F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0392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CB09DC5A-0979-44EA-9F8B-122E0DE0E1A8}"/>
              </a:ext>
            </a:extLst>
          </p:cNvPr>
          <p:cNvGrpSpPr/>
          <p:nvPr/>
        </p:nvGrpSpPr>
        <p:grpSpPr>
          <a:xfrm>
            <a:off x="-9053" y="36212"/>
            <a:ext cx="12192000" cy="541304"/>
            <a:chOff x="-9053" y="36212"/>
            <a:chExt cx="12192000" cy="37118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328289F4-27AF-4B23-BA74-8A3F149FF6BE}"/>
                </a:ext>
              </a:extLst>
            </p:cNvPr>
            <p:cNvSpPr/>
            <p:nvPr/>
          </p:nvSpPr>
          <p:spPr>
            <a:xfrm>
              <a:off x="36212" y="36212"/>
              <a:ext cx="2649236" cy="29876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Bayes</a:t>
              </a:r>
            </a:p>
          </p:txBody>
        </p: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91144791-D8C3-4614-926D-4793A4B9846D}"/>
                </a:ext>
              </a:extLst>
            </p:cNvPr>
            <p:cNvCxnSpPr/>
            <p:nvPr/>
          </p:nvCxnSpPr>
          <p:spPr>
            <a:xfrm>
              <a:off x="-9053" y="380241"/>
              <a:ext cx="12192000" cy="27160"/>
            </a:xfrm>
            <a:prstGeom prst="line">
              <a:avLst/>
            </a:prstGeom>
            <a:ln w="2222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矩形 6">
            <a:extLst>
              <a:ext uri="{FF2B5EF4-FFF2-40B4-BE49-F238E27FC236}">
                <a16:creationId xmlns:a16="http://schemas.microsoft.com/office/drawing/2014/main" id="{C1C5F180-53E6-43C3-9BA9-AC0EF1EC4E6C}"/>
              </a:ext>
            </a:extLst>
          </p:cNvPr>
          <p:cNvSpPr/>
          <p:nvPr/>
        </p:nvSpPr>
        <p:spPr>
          <a:xfrm>
            <a:off x="1468192" y="1705480"/>
            <a:ext cx="2607972" cy="8628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条件独立性假设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3FAA899-F73B-4E3B-B4DE-52A19425066B}"/>
              </a:ext>
            </a:extLst>
          </p:cNvPr>
          <p:cNvSpPr/>
          <p:nvPr/>
        </p:nvSpPr>
        <p:spPr>
          <a:xfrm>
            <a:off x="7680102" y="1705479"/>
            <a:ext cx="2607972" cy="8628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位置独立性假设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A305E3DA-46B1-4B5D-9FF2-A76003D4487D}"/>
              </a:ext>
            </a:extLst>
          </p:cNvPr>
          <p:cNvGrpSpPr/>
          <p:nvPr/>
        </p:nvGrpSpPr>
        <p:grpSpPr>
          <a:xfrm>
            <a:off x="534508" y="3429000"/>
            <a:ext cx="4618278" cy="1839529"/>
            <a:chOff x="534508" y="3429000"/>
            <a:chExt cx="4618278" cy="1839529"/>
          </a:xfrm>
        </p:grpSpPr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2DAF57BD-3A90-4DEF-9EFD-0AC265FA1FB9}"/>
                </a:ext>
              </a:extLst>
            </p:cNvPr>
            <p:cNvSpPr txBox="1"/>
            <p:nvPr/>
          </p:nvSpPr>
          <p:spPr>
            <a:xfrm>
              <a:off x="1255690" y="3429000"/>
              <a:ext cx="3799267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i="0" dirty="0">
                  <a:solidFill>
                    <a:srgbClr val="333333"/>
                  </a:solidFill>
                  <a:effectLst/>
                  <a:latin typeface="-apple-system"/>
                </a:rPr>
                <a:t>任务：</a:t>
              </a:r>
              <a:endParaRPr lang="en-US" altLang="zh-CN" b="0" i="0" dirty="0">
                <a:solidFill>
                  <a:srgbClr val="333333"/>
                </a:solidFill>
                <a:effectLst/>
                <a:latin typeface="-apple-system"/>
              </a:endParaRPr>
            </a:p>
            <a:p>
              <a:r>
                <a:rPr lang="en-US" altLang="zh-CN" b="0" i="0" dirty="0">
                  <a:solidFill>
                    <a:srgbClr val="333333"/>
                  </a:solidFill>
                  <a:effectLst/>
                  <a:latin typeface="-apple-system"/>
                </a:rPr>
                <a:t>         </a:t>
              </a:r>
              <a:r>
                <a:rPr lang="zh-CN" altLang="en-US" b="0" i="0" dirty="0">
                  <a:solidFill>
                    <a:srgbClr val="333333"/>
                  </a:solidFill>
                  <a:effectLst/>
                  <a:latin typeface="-apple-system"/>
                </a:rPr>
                <a:t>识别一个人的性别</a:t>
              </a:r>
              <a:r>
                <a:rPr lang="en-US" altLang="zh-CN" b="0" i="0" dirty="0">
                  <a:solidFill>
                    <a:srgbClr val="333333"/>
                  </a:solidFill>
                  <a:effectLst/>
                  <a:latin typeface="-apple-system"/>
                </a:rPr>
                <a:t>Y=</a:t>
              </a:r>
              <a:r>
                <a:rPr lang="zh-CN" altLang="en-US" b="0" i="0" dirty="0">
                  <a:solidFill>
                    <a:srgbClr val="333333"/>
                  </a:solidFill>
                  <a:effectLst/>
                  <a:latin typeface="-apple-system"/>
                </a:rPr>
                <a:t>男</a:t>
              </a:r>
              <a:r>
                <a:rPr lang="en-US" altLang="zh-CN" b="0" i="0" dirty="0">
                  <a:solidFill>
                    <a:srgbClr val="333333"/>
                  </a:solidFill>
                  <a:effectLst/>
                  <a:latin typeface="-apple-system"/>
                </a:rPr>
                <a:t>/</a:t>
              </a:r>
              <a:r>
                <a:rPr lang="zh-CN" altLang="en-US" b="0" i="0" dirty="0">
                  <a:solidFill>
                    <a:srgbClr val="333333"/>
                  </a:solidFill>
                  <a:effectLst/>
                  <a:latin typeface="-apple-system"/>
                </a:rPr>
                <a:t>女  </a:t>
              </a:r>
              <a:r>
                <a:rPr lang="en-US" altLang="zh-CN" b="0" i="0" dirty="0">
                  <a:solidFill>
                    <a:srgbClr val="333333"/>
                  </a:solidFill>
                  <a:effectLst/>
                  <a:latin typeface="-apple-system"/>
                </a:rPr>
                <a:t>  </a:t>
              </a:r>
            </a:p>
            <a:p>
              <a:r>
                <a:rPr lang="zh-CN" altLang="en-US" b="0" i="0" dirty="0">
                  <a:solidFill>
                    <a:srgbClr val="333333"/>
                  </a:solidFill>
                  <a:effectLst/>
                  <a:latin typeface="-apple-system"/>
                </a:rPr>
                <a:t>特征：</a:t>
              </a:r>
              <a:endParaRPr lang="en-US" altLang="zh-CN" b="0" i="0" dirty="0">
                <a:solidFill>
                  <a:srgbClr val="333333"/>
                </a:solidFill>
                <a:effectLst/>
                <a:latin typeface="-apple-system"/>
              </a:endParaRPr>
            </a:p>
            <a:p>
              <a:r>
                <a:rPr lang="zh-CN" altLang="en-US" b="0" i="0" dirty="0">
                  <a:solidFill>
                    <a:srgbClr val="333333"/>
                  </a:solidFill>
                  <a:effectLst/>
                  <a:latin typeface="-apple-system"/>
                </a:rPr>
                <a:t>         </a:t>
              </a:r>
              <a:r>
                <a:rPr lang="en-US" altLang="zh-CN" b="0" i="0" dirty="0">
                  <a:solidFill>
                    <a:srgbClr val="333333"/>
                  </a:solidFill>
                  <a:effectLst/>
                  <a:latin typeface="-apple-system"/>
                </a:rPr>
                <a:t>X=[x1=</a:t>
              </a:r>
              <a:r>
                <a:rPr lang="zh-CN" altLang="en-US" b="0" i="0" dirty="0">
                  <a:solidFill>
                    <a:srgbClr val="333333"/>
                  </a:solidFill>
                  <a:effectLst/>
                  <a:latin typeface="-apple-system"/>
                </a:rPr>
                <a:t>身高  </a:t>
              </a:r>
              <a:r>
                <a:rPr lang="en-US" altLang="zh-CN" b="0" i="0" dirty="0">
                  <a:solidFill>
                    <a:srgbClr val="333333"/>
                  </a:solidFill>
                  <a:effectLst/>
                  <a:latin typeface="-apple-system"/>
                </a:rPr>
                <a:t>x2=</a:t>
              </a:r>
              <a:r>
                <a:rPr lang="zh-CN" altLang="en-US" b="0" i="0" dirty="0">
                  <a:solidFill>
                    <a:srgbClr val="333333"/>
                  </a:solidFill>
                  <a:effectLst/>
                  <a:latin typeface="-apple-system"/>
                </a:rPr>
                <a:t>体重</a:t>
              </a:r>
              <a:r>
                <a:rPr lang="en-US" altLang="zh-CN" b="0" i="0" dirty="0">
                  <a:solidFill>
                    <a:srgbClr val="333333"/>
                  </a:solidFill>
                  <a:effectLst/>
                  <a:latin typeface="-apple-system"/>
                </a:rPr>
                <a:t>]</a:t>
              </a:r>
            </a:p>
            <a:p>
              <a:endParaRPr lang="en-US" altLang="zh-CN" b="0" i="0" dirty="0">
                <a:solidFill>
                  <a:srgbClr val="333333"/>
                </a:solidFill>
                <a:effectLst/>
                <a:latin typeface="-apple-system"/>
              </a:endParaRPr>
            </a:p>
          </p:txBody>
        </p:sp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4D821382-3C20-4CE2-B7FC-DAFC376177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4508" y="4906328"/>
              <a:ext cx="4618278" cy="362201"/>
            </a:xfrm>
            <a:prstGeom prst="rect">
              <a:avLst/>
            </a:prstGeom>
          </p:spPr>
        </p:pic>
      </p:grpSp>
      <p:sp>
        <p:nvSpPr>
          <p:cNvPr id="14" name="矩形 13">
            <a:extLst>
              <a:ext uri="{FF2B5EF4-FFF2-40B4-BE49-F238E27FC236}">
                <a16:creationId xmlns:a16="http://schemas.microsoft.com/office/drawing/2014/main" id="{08451DDD-A7C9-4454-A1B5-94A6E3510465}"/>
              </a:ext>
            </a:extLst>
          </p:cNvPr>
          <p:cNvSpPr/>
          <p:nvPr/>
        </p:nvSpPr>
        <p:spPr>
          <a:xfrm>
            <a:off x="4505459" y="854002"/>
            <a:ext cx="2607972" cy="410592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</a:rPr>
              <a:t>朴素贝叶斯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0D15786-5028-48A9-B1DE-E8F22DB4A94D}"/>
              </a:ext>
            </a:extLst>
          </p:cNvPr>
          <p:cNvSpPr txBox="1"/>
          <p:nvPr/>
        </p:nvSpPr>
        <p:spPr>
          <a:xfrm>
            <a:off x="7360275" y="3218577"/>
            <a:ext cx="42113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任务：</a:t>
            </a:r>
            <a:endParaRPr lang="en-US" altLang="zh-CN" b="0" i="0" dirty="0">
              <a:solidFill>
                <a:srgbClr val="333333"/>
              </a:solidFill>
              <a:effectLst/>
              <a:latin typeface="-apple-system"/>
            </a:endParaRPr>
          </a:p>
          <a:p>
            <a:r>
              <a:rPr lang="en-US" altLang="zh-CN" dirty="0">
                <a:solidFill>
                  <a:srgbClr val="333333"/>
                </a:solidFill>
                <a:latin typeface="-apple-system"/>
              </a:rPr>
              <a:t>          </a:t>
            </a:r>
            <a:r>
              <a:rPr lang="zh-CN" altLang="en-US" dirty="0">
                <a:solidFill>
                  <a:srgbClr val="333333"/>
                </a:solidFill>
                <a:latin typeface="-apple-system"/>
              </a:rPr>
              <a:t>情感分类：</a:t>
            </a:r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我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-apple-system"/>
              </a:rPr>
              <a:t>|</a:t>
            </a:r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喜欢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-apple-system"/>
              </a:rPr>
              <a:t>|</a:t>
            </a:r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狗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2A5F8A3-DBA0-439E-8F19-F8D236794257}"/>
              </a:ext>
            </a:extLst>
          </p:cNvPr>
          <p:cNvSpPr txBox="1"/>
          <p:nvPr/>
        </p:nvSpPr>
        <p:spPr>
          <a:xfrm>
            <a:off x="7321638" y="4025997"/>
            <a:ext cx="42886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特征：</a:t>
            </a:r>
            <a:endParaRPr lang="en-US" altLang="zh-CN" b="0" i="0" dirty="0">
              <a:solidFill>
                <a:srgbClr val="333333"/>
              </a:solidFill>
              <a:effectLst/>
              <a:latin typeface="-apple-system"/>
            </a:endParaRPr>
          </a:p>
          <a:p>
            <a:r>
              <a:rPr lang="en-US" altLang="zh-CN" dirty="0">
                <a:solidFill>
                  <a:srgbClr val="333333"/>
                </a:solidFill>
                <a:latin typeface="-apple-system"/>
              </a:rPr>
              <a:t>           </a:t>
            </a:r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向量“我”、向量“喜欢”、向量“狗”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E6D3875-B45A-428F-BAB0-4F7A840EBCD9}"/>
              </a:ext>
            </a:extLst>
          </p:cNvPr>
          <p:cNvSpPr txBox="1"/>
          <p:nvPr/>
        </p:nvSpPr>
        <p:spPr>
          <a:xfrm>
            <a:off x="7360275" y="5087428"/>
            <a:ext cx="36490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在朴素贝叶斯看来，“我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-apple-system"/>
              </a:rPr>
              <a:t>|</a:t>
            </a:r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喜欢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-apple-system"/>
              </a:rPr>
              <a:t>|</a:t>
            </a:r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狗”与“狗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-apple-system"/>
              </a:rPr>
              <a:t>|</a:t>
            </a:r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喜欢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-apple-system"/>
              </a:rPr>
              <a:t>|</a:t>
            </a:r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我”是同一个分类任务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32016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CB09DC5A-0979-44EA-9F8B-122E0DE0E1A8}"/>
              </a:ext>
            </a:extLst>
          </p:cNvPr>
          <p:cNvGrpSpPr/>
          <p:nvPr/>
        </p:nvGrpSpPr>
        <p:grpSpPr>
          <a:xfrm>
            <a:off x="-9053" y="36212"/>
            <a:ext cx="12192000" cy="541304"/>
            <a:chOff x="-9053" y="36212"/>
            <a:chExt cx="12192000" cy="37118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328289F4-27AF-4B23-BA74-8A3F149FF6BE}"/>
                </a:ext>
              </a:extLst>
            </p:cNvPr>
            <p:cNvSpPr/>
            <p:nvPr/>
          </p:nvSpPr>
          <p:spPr>
            <a:xfrm>
              <a:off x="36212" y="36212"/>
              <a:ext cx="2649236" cy="29876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Bayes</a:t>
              </a:r>
            </a:p>
          </p:txBody>
        </p: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91144791-D8C3-4614-926D-4793A4B9846D}"/>
                </a:ext>
              </a:extLst>
            </p:cNvPr>
            <p:cNvCxnSpPr/>
            <p:nvPr/>
          </p:nvCxnSpPr>
          <p:spPr>
            <a:xfrm>
              <a:off x="-9053" y="380241"/>
              <a:ext cx="12192000" cy="27160"/>
            </a:xfrm>
            <a:prstGeom prst="line">
              <a:avLst/>
            </a:prstGeom>
            <a:ln w="2222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45E69508-CDF4-402C-A02D-7B0F17D6D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7861" y="851481"/>
            <a:ext cx="4022568" cy="129838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43E85052-CFB9-494B-8FAA-E82005E888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7861" y="2620850"/>
            <a:ext cx="4248150" cy="1371600"/>
          </a:xfrm>
          <a:prstGeom prst="rect">
            <a:avLst/>
          </a:prstGeom>
        </p:spPr>
      </p:pic>
      <p:sp>
        <p:nvSpPr>
          <p:cNvPr id="15" name="箭头: 下 14">
            <a:extLst>
              <a:ext uri="{FF2B5EF4-FFF2-40B4-BE49-F238E27FC236}">
                <a16:creationId xmlns:a16="http://schemas.microsoft.com/office/drawing/2014/main" id="{4689C0C6-6EE7-46BD-A657-9D8610C86585}"/>
              </a:ext>
            </a:extLst>
          </p:cNvPr>
          <p:cNvSpPr/>
          <p:nvPr/>
        </p:nvSpPr>
        <p:spPr>
          <a:xfrm>
            <a:off x="5235262" y="2117505"/>
            <a:ext cx="328411" cy="612652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A4C69DB-2A3F-4812-9188-961F6F95B52F}"/>
              </a:ext>
            </a:extLst>
          </p:cNvPr>
          <p:cNvSpPr txBox="1"/>
          <p:nvPr/>
        </p:nvSpPr>
        <p:spPr>
          <a:xfrm>
            <a:off x="1322166" y="4171612"/>
            <a:ext cx="2105695" cy="92333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已知样本特征的值为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-apple-system"/>
              </a:rPr>
              <a:t>X</a:t>
            </a:r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的情况下，目标类别为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-apple-system"/>
              </a:rPr>
              <a:t>y</a:t>
            </a:r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的概率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FE1C16E-F1C3-4706-A9AB-0006B216BF28}"/>
              </a:ext>
            </a:extLst>
          </p:cNvPr>
          <p:cNvSpPr txBox="1"/>
          <p:nvPr/>
        </p:nvSpPr>
        <p:spPr>
          <a:xfrm>
            <a:off x="1830089" y="5179062"/>
            <a:ext cx="12556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00D100"/>
                </a:solidFill>
                <a:effectLst/>
                <a:latin typeface="-apple-system"/>
              </a:rPr>
              <a:t>后验概率</a:t>
            </a:r>
            <a:endParaRPr lang="zh-CN" altLang="en-US" dirty="0"/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B320183D-7C4C-4F58-AA46-7371D7A126A6}"/>
              </a:ext>
            </a:extLst>
          </p:cNvPr>
          <p:cNvCxnSpPr>
            <a:endCxn id="21" idx="0"/>
          </p:cNvCxnSpPr>
          <p:nvPr/>
        </p:nvCxnSpPr>
        <p:spPr>
          <a:xfrm flipH="1">
            <a:off x="2375014" y="3649980"/>
            <a:ext cx="1244486" cy="52163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3A4C1780-90E9-4BE4-81D6-0D0DFE23ED3C}"/>
              </a:ext>
            </a:extLst>
          </p:cNvPr>
          <p:cNvSpPr txBox="1"/>
          <p:nvPr/>
        </p:nvSpPr>
        <p:spPr>
          <a:xfrm>
            <a:off x="4269346" y="5094942"/>
            <a:ext cx="4881092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000000"/>
                </a:solidFill>
                <a:effectLst/>
                <a:latin typeface="-apple-system"/>
              </a:rPr>
              <a:t>什么都不知道的情况下，目标类别为</a:t>
            </a:r>
            <a:r>
              <a:rPr lang="en-US" altLang="zh-CN" b="0" i="0" dirty="0">
                <a:solidFill>
                  <a:srgbClr val="000000"/>
                </a:solidFill>
                <a:effectLst/>
                <a:latin typeface="-apple-system"/>
              </a:rPr>
              <a:t>y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-apple-system"/>
              </a:rPr>
              <a:t>的概率</a:t>
            </a:r>
            <a:endParaRPr lang="zh-CN" altLang="en-US" dirty="0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1BDF69C1-B7D5-4333-9F38-F502C73113D4}"/>
              </a:ext>
            </a:extLst>
          </p:cNvPr>
          <p:cNvCxnSpPr>
            <a:cxnSpLocks/>
          </p:cNvCxnSpPr>
          <p:nvPr/>
        </p:nvCxnSpPr>
        <p:spPr>
          <a:xfrm flipH="1">
            <a:off x="5109692" y="3369821"/>
            <a:ext cx="579549" cy="1611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14CCE49F-F02A-4EFA-AFEF-5DC08CFDFEFB}"/>
              </a:ext>
            </a:extLst>
          </p:cNvPr>
          <p:cNvSpPr txBox="1"/>
          <p:nvPr/>
        </p:nvSpPr>
        <p:spPr>
          <a:xfrm>
            <a:off x="5912545" y="5540619"/>
            <a:ext cx="12352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00D100"/>
                </a:solidFill>
                <a:effectLst/>
                <a:latin typeface="-apple-system"/>
              </a:rPr>
              <a:t>先验概率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F8FBEB1-3EB8-4C5A-A60F-6A2D61F07A97}"/>
              </a:ext>
            </a:extLst>
          </p:cNvPr>
          <p:cNvSpPr txBox="1"/>
          <p:nvPr/>
        </p:nvSpPr>
        <p:spPr>
          <a:xfrm>
            <a:off x="7147775" y="2292172"/>
            <a:ext cx="4984124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已知目标类别是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-apple-system"/>
              </a:rPr>
              <a:t>y</a:t>
            </a:r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的情况下，特征的值为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-apple-system"/>
              </a:rPr>
              <a:t>X</a:t>
            </a:r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的概率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F5EE3000-DB03-467A-8690-AA259FE92C5C}"/>
              </a:ext>
            </a:extLst>
          </p:cNvPr>
          <p:cNvSpPr txBox="1"/>
          <p:nvPr/>
        </p:nvSpPr>
        <p:spPr>
          <a:xfrm>
            <a:off x="8851543" y="1865862"/>
            <a:ext cx="14236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00D100"/>
                </a:solidFill>
                <a:effectLst/>
                <a:latin typeface="-apple-system"/>
              </a:rPr>
              <a:t>似然函数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D3B0AAF-E483-4F89-9F3A-CDB9FE4C0ABC}"/>
              </a:ext>
            </a:extLst>
          </p:cNvPr>
          <p:cNvSpPr txBox="1"/>
          <p:nvPr/>
        </p:nvSpPr>
        <p:spPr>
          <a:xfrm>
            <a:off x="7340428" y="4052484"/>
            <a:ext cx="4791471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什么都不知道的情况下，特征的值为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-apple-system"/>
              </a:rPr>
              <a:t>X</a:t>
            </a:r>
            <a:r>
              <a:rPr lang="zh-CN" altLang="en-US" b="0" i="0" dirty="0">
                <a:solidFill>
                  <a:srgbClr val="333333"/>
                </a:solidFill>
                <a:effectLst/>
                <a:latin typeface="-apple-system"/>
              </a:rPr>
              <a:t>的概率</a:t>
            </a:r>
            <a:endParaRPr lang="zh-CN" altLang="en-US" dirty="0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78A4EA29-A5C7-4FBC-9097-E817D996059F}"/>
              </a:ext>
            </a:extLst>
          </p:cNvPr>
          <p:cNvCxnSpPr/>
          <p:nvPr/>
        </p:nvCxnSpPr>
        <p:spPr>
          <a:xfrm flipV="1">
            <a:off x="7025425" y="2664043"/>
            <a:ext cx="901521" cy="1589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A9F26BF1-3C5F-4BDC-9768-B3D707C9280F}"/>
              </a:ext>
            </a:extLst>
          </p:cNvPr>
          <p:cNvCxnSpPr/>
          <p:nvPr/>
        </p:nvCxnSpPr>
        <p:spPr>
          <a:xfrm>
            <a:off x="7025425" y="3649980"/>
            <a:ext cx="650586" cy="342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D4BA8D26-0BA6-48DC-BBEE-2548044E0506}"/>
              </a:ext>
            </a:extLst>
          </p:cNvPr>
          <p:cNvSpPr txBox="1"/>
          <p:nvPr/>
        </p:nvSpPr>
        <p:spPr>
          <a:xfrm>
            <a:off x="8728858" y="3555114"/>
            <a:ext cx="2087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00B050"/>
                </a:solidFill>
                <a:effectLst/>
                <a:latin typeface="-apple-system"/>
              </a:rPr>
              <a:t>特征</a:t>
            </a:r>
            <a:r>
              <a:rPr lang="en-US" altLang="zh-CN" b="0" i="0" dirty="0">
                <a:solidFill>
                  <a:srgbClr val="00B050"/>
                </a:solidFill>
                <a:effectLst/>
                <a:latin typeface="-apple-system"/>
              </a:rPr>
              <a:t>X</a:t>
            </a:r>
            <a:r>
              <a:rPr lang="zh-CN" altLang="en-US" b="0" i="0" dirty="0">
                <a:solidFill>
                  <a:srgbClr val="00B050"/>
                </a:solidFill>
                <a:effectLst/>
                <a:latin typeface="-apple-system"/>
              </a:rPr>
              <a:t>的先验概率</a:t>
            </a:r>
            <a:endParaRPr lang="zh-CN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5960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CB09DC5A-0979-44EA-9F8B-122E0DE0E1A8}"/>
              </a:ext>
            </a:extLst>
          </p:cNvPr>
          <p:cNvGrpSpPr/>
          <p:nvPr/>
        </p:nvGrpSpPr>
        <p:grpSpPr>
          <a:xfrm>
            <a:off x="-9053" y="36212"/>
            <a:ext cx="12192000" cy="541304"/>
            <a:chOff x="-9053" y="36212"/>
            <a:chExt cx="12192000" cy="37118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328289F4-27AF-4B23-BA74-8A3F149FF6BE}"/>
                </a:ext>
              </a:extLst>
            </p:cNvPr>
            <p:cNvSpPr/>
            <p:nvPr/>
          </p:nvSpPr>
          <p:spPr>
            <a:xfrm>
              <a:off x="36212" y="36212"/>
              <a:ext cx="2649236" cy="29876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Bayes</a:t>
              </a:r>
            </a:p>
          </p:txBody>
        </p: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91144791-D8C3-4614-926D-4793A4B9846D}"/>
                </a:ext>
              </a:extLst>
            </p:cNvPr>
            <p:cNvCxnSpPr/>
            <p:nvPr/>
          </p:nvCxnSpPr>
          <p:spPr>
            <a:xfrm>
              <a:off x="-9053" y="380241"/>
              <a:ext cx="12192000" cy="27160"/>
            </a:xfrm>
            <a:prstGeom prst="line">
              <a:avLst/>
            </a:prstGeom>
            <a:ln w="2222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014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CB09DC5A-0979-44EA-9F8B-122E0DE0E1A8}"/>
              </a:ext>
            </a:extLst>
          </p:cNvPr>
          <p:cNvGrpSpPr/>
          <p:nvPr/>
        </p:nvGrpSpPr>
        <p:grpSpPr>
          <a:xfrm>
            <a:off x="-9053" y="36212"/>
            <a:ext cx="12192000" cy="541304"/>
            <a:chOff x="-9053" y="36212"/>
            <a:chExt cx="12192000" cy="37118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328289F4-27AF-4B23-BA74-8A3F149FF6BE}"/>
                </a:ext>
              </a:extLst>
            </p:cNvPr>
            <p:cNvSpPr/>
            <p:nvPr/>
          </p:nvSpPr>
          <p:spPr>
            <a:xfrm>
              <a:off x="36212" y="36212"/>
              <a:ext cx="2649236" cy="29876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Bayes</a:t>
              </a:r>
            </a:p>
          </p:txBody>
        </p: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91144791-D8C3-4614-926D-4793A4B9846D}"/>
                </a:ext>
              </a:extLst>
            </p:cNvPr>
            <p:cNvCxnSpPr/>
            <p:nvPr/>
          </p:nvCxnSpPr>
          <p:spPr>
            <a:xfrm>
              <a:off x="-9053" y="380241"/>
              <a:ext cx="12192000" cy="27160"/>
            </a:xfrm>
            <a:prstGeom prst="line">
              <a:avLst/>
            </a:prstGeom>
            <a:ln w="2222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18761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CB09DC5A-0979-44EA-9F8B-122E0DE0E1A8}"/>
              </a:ext>
            </a:extLst>
          </p:cNvPr>
          <p:cNvGrpSpPr/>
          <p:nvPr/>
        </p:nvGrpSpPr>
        <p:grpSpPr>
          <a:xfrm>
            <a:off x="-9053" y="36212"/>
            <a:ext cx="12192000" cy="541304"/>
            <a:chOff x="-9053" y="36212"/>
            <a:chExt cx="12192000" cy="37118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328289F4-27AF-4B23-BA74-8A3F149FF6BE}"/>
                </a:ext>
              </a:extLst>
            </p:cNvPr>
            <p:cNvSpPr/>
            <p:nvPr/>
          </p:nvSpPr>
          <p:spPr>
            <a:xfrm>
              <a:off x="36212" y="36212"/>
              <a:ext cx="2649236" cy="29876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Bayes</a:t>
              </a:r>
            </a:p>
          </p:txBody>
        </p: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91144791-D8C3-4614-926D-4793A4B9846D}"/>
                </a:ext>
              </a:extLst>
            </p:cNvPr>
            <p:cNvCxnSpPr/>
            <p:nvPr/>
          </p:nvCxnSpPr>
          <p:spPr>
            <a:xfrm>
              <a:off x="-9053" y="380241"/>
              <a:ext cx="12192000" cy="27160"/>
            </a:xfrm>
            <a:prstGeom prst="line">
              <a:avLst/>
            </a:prstGeom>
            <a:ln w="2222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7397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156</Words>
  <Application>Microsoft Office PowerPoint</Application>
  <PresentationFormat>宽屏</PresentationFormat>
  <Paragraphs>25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0" baseType="lpstr">
      <vt:lpstr>-apple-system</vt:lpstr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周 杰</dc:creator>
  <cp:lastModifiedBy>周 杰</cp:lastModifiedBy>
  <cp:revision>33</cp:revision>
  <dcterms:created xsi:type="dcterms:W3CDTF">2021-07-14T03:07:03Z</dcterms:created>
  <dcterms:modified xsi:type="dcterms:W3CDTF">2021-07-14T07:36:23Z</dcterms:modified>
</cp:coreProperties>
</file>